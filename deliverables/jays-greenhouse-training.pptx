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a5b69c86404d81" /><Relationship Type="http://schemas.openxmlformats.org/officeDocument/2006/relationships/extended-properties" Target="/docProps/app.xml" Id="Rccefd48a106a4ed8" /><Relationship Type="http://schemas.openxmlformats.org/officeDocument/2006/relationships/officeDocument" Target="/ppt/presentation.xml" Id="Rcbeed770240d41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23084d4d424217"/>
  </p:sldMasterIdLst>
  <p:notesMasterIdLst>
    <p:notesMasterId xmlns:r="http://schemas.openxmlformats.org/officeDocument/2006/relationships" r:id="R93e724f9ecaf4251"/>
  </p:notesMasterIdLst>
  <p:sldIdLst>
    <p:sldId xmlns:r="http://schemas.openxmlformats.org/officeDocument/2006/relationships" id="256" r:id="R31624f7e235342db"/>
    <p:sldId xmlns:r="http://schemas.openxmlformats.org/officeDocument/2006/relationships" id="257" r:id="R51b6a7561bea4a4c"/>
    <p:sldId xmlns:r="http://schemas.openxmlformats.org/officeDocument/2006/relationships" id="258" r:id="R885a7e730bdc4383"/>
    <p:sldId xmlns:r="http://schemas.openxmlformats.org/officeDocument/2006/relationships" id="259" r:id="Ra3cbffa930c64d1c"/>
    <p:sldId xmlns:r="http://schemas.openxmlformats.org/officeDocument/2006/relationships" id="260" r:id="R5f0467891545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a474209f034a42" /><Relationship Type="http://schemas.openxmlformats.org/officeDocument/2006/relationships/slideMaster" Target="/ppt/slideMasters/slideMaster1.xml" Id="R7523084d4d424217" /><Relationship Type="http://schemas.openxmlformats.org/officeDocument/2006/relationships/notesMaster" Target="/ppt/notesMasters/notesMaster1.xml" Id="R93e724f9ecaf4251" /><Relationship Type="http://schemas.openxmlformats.org/officeDocument/2006/relationships/presProps" Target="/ppt/presProps.xml" Id="R754840687dd444c8" /><Relationship Type="http://schemas.openxmlformats.org/officeDocument/2006/relationships/tableStyles" Target="/ppt/tableStyles.xml" Id="Rb647dc90a98d480b" /><Relationship Type="http://schemas.openxmlformats.org/officeDocument/2006/relationships/slide" Target="/ppt/slides/slide1.xml" Id="R31624f7e235342db" /><Relationship Type="http://schemas.openxmlformats.org/officeDocument/2006/relationships/slide" Target="/ppt/slides/slide2.xml" Id="R51b6a7561bea4a4c" /><Relationship Type="http://schemas.openxmlformats.org/officeDocument/2006/relationships/slide" Target="/ppt/slides/slide3.xml" Id="R885a7e730bdc4383" /><Relationship Type="http://schemas.openxmlformats.org/officeDocument/2006/relationships/slide" Target="/ppt/slides/slide4.xml" Id="Ra3cbffa930c64d1c" /><Relationship Type="http://schemas.openxmlformats.org/officeDocument/2006/relationships/slide" Target="/ppt/slides/slide5.xml" Id="R5f0467891545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081c22831f47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75212e11ff4bf9" /><Relationship Type="http://schemas.openxmlformats.org/officeDocument/2006/relationships/notesMaster" Target="/ppt/notesMasters/notesMaster1.xml" Id="Re760017bfd8e4a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459794eb2c42c3" /><Relationship Type="http://schemas.openxmlformats.org/officeDocument/2006/relationships/notesMaster" Target="/ppt/notesMasters/notesMaster1.xml" Id="Rc1e55da807f6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1f1756485745b8" /><Relationship Type="http://schemas.openxmlformats.org/officeDocument/2006/relationships/notesMaster" Target="/ppt/notesMasters/notesMaster1.xml" Id="Rde24f7c5f566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18f2286a54cfd" /><Relationship Type="http://schemas.openxmlformats.org/officeDocument/2006/relationships/notesMaster" Target="/ppt/notesMasters/notesMaster1.xml" Id="R80f32448786649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97ee995df04505" /><Relationship Type="http://schemas.openxmlformats.org/officeDocument/2006/relationships/notesMaster" Target="/ppt/notesMasters/notesMaster1.xml" Id="R29b28aab7971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4e0b04dea546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39bf2e9e2346e5" /><Relationship Type="http://schemas.openxmlformats.org/officeDocument/2006/relationships/slideLayout" Target="/ppt/slideLayouts/slideLayout1.xml" Id="R7a05c59de9464c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5c59de9464c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d814b7e8142ce" /><Relationship Type="http://schemas.openxmlformats.org/officeDocument/2006/relationships/notesSlide" Target="/ppt/notesSlides/notesSlide1.xml" Id="R910051c38c184b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e9391e297942be" /><Relationship Type="http://schemas.openxmlformats.org/officeDocument/2006/relationships/notesSlide" Target="/ppt/notesSlides/notesSlide2.xml" Id="R279d8d4ab13f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1c79db8e6a4e78" /><Relationship Type="http://schemas.openxmlformats.org/officeDocument/2006/relationships/notesSlide" Target="/ppt/notesSlides/notesSlide3.xml" Id="Rb8b5f7b184ac47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4a3b623b843cc" /><Relationship Type="http://schemas.openxmlformats.org/officeDocument/2006/relationships/notesSlide" Target="/ppt/notesSlides/notesSlide4.xml" Id="Re8fe389e46954f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f997de3624c3e" /><Relationship Type="http://schemas.openxmlformats.org/officeDocument/2006/relationships/notesSlide" Target="/ppt/notesSlides/notesSlide5.xml" Id="R8ec5c1aaf0e1441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1386F666-08AD-46BA-B9C8-408B4534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75E54"/>
                </a:solidFill>
              </a:defRPr>
            </a:pPr>
            <a:r>
              <a:rPr sz="1500" b="1">
                <a:solidFill>
                  <a:srgbClr val="075E54"/>
                </a:solidFill>
              </a:rPr>
              <a:t>GREENHOUSE SENTINEL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AAC8EAF8-8208-4D98-87EB-913623CD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1000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Greenhouse Sentinel Operator Training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2CC5A82C-998A-4CE0-9A5F-50BA5A0F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4413E"/>
                </a:solidFill>
              </a:defRPr>
            </a:pPr>
            <a:r>
              <a:rPr sz="2100">
                <a:solidFill>
                  <a:srgbClr val="34413E"/>
                </a:solidFill>
              </a:rPr>
              <a:t>A short practice deck for greenhouse volunteers</a:t>
            </a:r>
          </a:p>
        </p:txBody>
      </p:sp>
    </p:spTree>
    <p:extLst>
      <p:ext uri="{BB962C8B-B14F-4D97-AF65-F5344CB8AC3E}">
        <p14:creationId xmlns:p14="http://schemas.microsoft.com/office/powerpoint/2010/main" val="1317715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B74D980-79EE-4413-A190-5FE8DA8A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Connect and Verify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61F36AA1-D695-48E1-894E-C999F2F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2-item-1">
            <a:extLst xmlns:a="http://schemas.openxmlformats.org/drawingml/2006/main">
              <a:ext uri="{FF2B5EF4-FFF2-40B4-BE49-F238E27FC236}">
                <a16:creationId xmlns:a16="http://schemas.microsoft.com/office/drawing/2014/main" id="{159A0610-B26F-4F43-A49B-395A8BBD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Place the hub above the irrigation line and away from direct spray.</a:t>
            </a:r>
          </a:p>
        </p:txBody>
      </p:sp>
      <p:sp>
        <p:nvSpPr>
          <p:cNvPr id="4" name="slide-2-item-2">
            <a:extLst xmlns:a="http://schemas.openxmlformats.org/drawingml/2006/main">
              <a:ext uri="{FF2B5EF4-FFF2-40B4-BE49-F238E27FC236}">
                <a16:creationId xmlns:a16="http://schemas.microsoft.com/office/drawing/2014/main" id="{BFCCB62D-399B-4B42-97A4-A19D6D9B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Connect both probes before applying power.</a:t>
            </a:r>
          </a:p>
        </p:txBody>
      </p:sp>
      <p:sp>
        <p:nvSpPr>
          <p:cNvPr id="5" name="slide-2-item-3">
            <a:extLst xmlns:a="http://schemas.openxmlformats.org/drawingml/2006/main">
              <a:ext uri="{FF2B5EF4-FFF2-40B4-BE49-F238E27FC236}">
                <a16:creationId xmlns:a16="http://schemas.microsoft.com/office/drawing/2014/main" id="{792E3E56-C8B8-47A4-B122-6E5FC51E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Join the temporary network named sentinel-setup.</a:t>
            </a:r>
          </a:p>
        </p:txBody>
      </p:sp>
      <p:sp>
        <p:nvSpPr>
          <p:cNvPr id="6" name="slide-2-item-4">
            <a:extLst xmlns:a="http://schemas.openxmlformats.org/drawingml/2006/main">
              <a:ext uri="{FF2B5EF4-FFF2-40B4-BE49-F238E27FC236}">
                <a16:creationId xmlns:a16="http://schemas.microsoft.com/office/drawing/2014/main" id="{A3B482F7-E7C9-4660-A65A-8DDBA806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Open http://sentinel.local and choose the greenhouse network.</a:t>
            </a:r>
          </a:p>
        </p:txBody>
      </p:sp>
      <p:sp>
        <p:nvSpPr>
          <p:cNvPr id="7" name="slide-2-item-5">
            <a:extLst xmlns:a="http://schemas.openxmlformats.org/drawingml/2006/main">
              <a:ext uri="{FF2B5EF4-FFF2-40B4-BE49-F238E27FC236}">
                <a16:creationId xmlns:a16="http://schemas.microsoft.com/office/drawing/2014/main" id="{ECCCBCEF-0307-4F6B-AB38-5EF385F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Select Run sensor check.</a:t>
            </a:r>
          </a:p>
        </p:txBody>
      </p:sp>
      <p:sp>
        <p:nvSpPr>
          <p:cNvPr id="8" name="slide-2-item-6">
            <a:extLst xmlns:a="http://schemas.openxmlformats.org/drawingml/2006/main">
              <a:ext uri="{FF2B5EF4-FFF2-40B4-BE49-F238E27FC236}">
                <a16:creationId xmlns:a16="http://schemas.microsoft.com/office/drawing/2014/main" id="{65FF5E95-CFE7-4FAC-85C1-B7B5073C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 successful check reports all three readings and changes the hub indicator from amber to green.</a:t>
            </a:r>
          </a:p>
        </p:txBody>
      </p:sp>
      <p:sp>
        <p:nvSpPr>
          <p:cNvPr id="9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FEF8F254-D66D-4643-AE2B-FCF833BC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45229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D5462A6-964D-447C-B1BB-C4AD5AA8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Daily Check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2B4570DB-5F2E-4D55-AF59-0A305AC7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3-item-1">
            <a:extLst xmlns:a="http://schemas.openxmlformats.org/drawingml/2006/main">
              <a:ext uri="{FF2B5EF4-FFF2-40B4-BE49-F238E27FC236}">
                <a16:creationId xmlns:a16="http://schemas.microsoft.com/office/drawing/2014/main" id="{768FDB91-60CC-4509-B6BD-0FB831A2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Confirm the dashboard timestamp is less than two minutes old.</a:t>
            </a:r>
          </a:p>
        </p:txBody>
      </p:sp>
      <p:sp>
        <p:nvSpPr>
          <p:cNvPr id="4" name="slide-3-item-2">
            <a:extLst xmlns:a="http://schemas.openxmlformats.org/drawingml/2006/main">
              <a:ext uri="{FF2B5EF4-FFF2-40B4-BE49-F238E27FC236}">
                <a16:creationId xmlns:a16="http://schemas.microsoft.com/office/drawing/2014/main" id="{74C5DFEF-9380-4D72-8F15-3259F79D1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Review the current state and its explanation.</a:t>
            </a:r>
          </a:p>
        </p:txBody>
      </p:sp>
      <p:sp>
        <p:nvSpPr>
          <p:cNvPr id="5" name="slide-3-item-3">
            <a:extLst xmlns:a="http://schemas.openxmlformats.org/drawingml/2006/main">
              <a:ext uri="{FF2B5EF4-FFF2-40B4-BE49-F238E27FC236}">
                <a16:creationId xmlns:a16="http://schemas.microsoft.com/office/drawing/2014/main" id="{16A82823-B5F4-4450-BC15-8D13918FE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Compare soil moisture across the three most recent samples.</a:t>
            </a:r>
          </a:p>
        </p:txBody>
      </p:sp>
      <p:sp>
        <p:nvSpPr>
          <p:cNvPr id="6" name="slide-3-item-4">
            <a:extLst xmlns:a="http://schemas.openxmlformats.org/drawingml/2006/main">
              <a:ext uri="{FF2B5EF4-FFF2-40B4-BE49-F238E27FC236}">
                <a16:creationId xmlns:a16="http://schemas.microsoft.com/office/drawing/2014/main" id="{BB4D8238-3D63-4A2E-A484-209BF4E2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Acknowledge any completed response.</a:t>
            </a:r>
          </a:p>
        </p:txBody>
      </p:sp>
      <p:sp>
        <p:nvSpPr>
          <p:cNvPr id="7" name="slide-3-item-5">
            <a:extLst xmlns:a="http://schemas.openxmlformats.org/drawingml/2006/main">
              <a:ext uri="{FF2B5EF4-FFF2-40B4-BE49-F238E27FC236}">
                <a16:creationId xmlns:a16="http://schemas.microsoft.com/office/drawing/2014/main" id="{C166386E-C674-4838-BD08-83D9804B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Record an observation only when local conditions differ from the sensor data.</a:t>
            </a:r>
          </a:p>
        </p:txBody>
      </p:sp>
      <p:sp>
        <p:nvSpPr>
          <p:cNvPr id="8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987A7A7D-6358-437F-8C8E-EA73809C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00950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CC02F5D5-F444-40CF-B970-216CB495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Decision States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3FD80E3E-CCEF-4E9D-AAF6-A1CB85DD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4-item-1">
            <a:extLst xmlns:a="http://schemas.openxmlformats.org/drawingml/2006/main">
              <a:ext uri="{FF2B5EF4-FFF2-40B4-BE49-F238E27FC236}">
                <a16:creationId xmlns:a16="http://schemas.microsoft.com/office/drawing/2014/main" id="{1A6E90CF-8FE8-4690-8894-F3AE36EC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engine assigns one of three states after three consecutive samples meet the same condition.</a:t>
            </a:r>
          </a:p>
        </p:txBody>
      </p:sp>
      <p:sp>
        <p:nvSpPr>
          <p:cNvPr id="4" name="slide-4-item-2">
            <a:extLst xmlns:a="http://schemas.openxmlformats.org/drawingml/2006/main">
              <a:ext uri="{FF2B5EF4-FFF2-40B4-BE49-F238E27FC236}">
                <a16:creationId xmlns:a16="http://schemas.microsoft.com/office/drawing/2014/main" id="{2E1AD7C5-5BAA-48FB-B667-1E2ADF6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State — Example condition — Operator expectation</a:t>
            </a:r>
          </a:p>
        </p:txBody>
      </p:sp>
      <p:sp>
        <p:nvSpPr>
          <p:cNvPr id="5" name="slide-4-item-3">
            <a:extLst xmlns:a="http://schemas.openxmlformats.org/drawingml/2006/main">
              <a:ext uri="{FF2B5EF4-FFF2-40B4-BE49-F238E27FC236}">
                <a16:creationId xmlns:a16="http://schemas.microsoft.com/office/drawing/2014/main" id="{62331C5D-E131-4BFF-B50A-0427983A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Normal — All readings are inside target ranges — Continue scheduled checks</a:t>
            </a:r>
          </a:p>
        </p:txBody>
      </p:sp>
      <p:sp>
        <p:nvSpPr>
          <p:cNvPr id="6" name="slide-4-item-4">
            <a:extLst xmlns:a="http://schemas.openxmlformats.org/drawingml/2006/main">
              <a:ext uri="{FF2B5EF4-FFF2-40B4-BE49-F238E27FC236}">
                <a16:creationId xmlns:a16="http://schemas.microsoft.com/office/drawing/2014/main" id="{07E59B4F-9A6C-4E5C-BB07-5710E2C1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Watch — One reading is near a threshold — Inspect within 30 minutes</a:t>
            </a:r>
          </a:p>
        </p:txBody>
      </p:sp>
      <p:sp>
        <p:nvSpPr>
          <p:cNvPr id="7" name="slide-4-item-5">
            <a:extLst xmlns:a="http://schemas.openxmlformats.org/drawingml/2006/main">
              <a:ext uri="{FF2B5EF4-FFF2-40B4-BE49-F238E27FC236}">
                <a16:creationId xmlns:a16="http://schemas.microsoft.com/office/drawing/2014/main" id="{D1FAB542-D43B-44AE-8ADB-C244BB8D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Act — One reading exceeds a threshold — Follow the displayed response</a:t>
            </a:r>
          </a:p>
        </p:txBody>
      </p:sp>
      <p:sp>
        <p:nvSpPr>
          <p:cNvPr id="8" name="slide-4-item-6">
            <a:extLst xmlns:a="http://schemas.openxmlformats.org/drawingml/2006/main">
              <a:ext uri="{FF2B5EF4-FFF2-40B4-BE49-F238E27FC236}">
                <a16:creationId xmlns:a16="http://schemas.microsoft.com/office/drawing/2014/main" id="{417C72C6-7F83-4034-BCA2-CDF94B474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three-sample rule reduces noise without hiding sustained change. Thresholds in this demo are illustrative, not horticultural advice.</a:t>
            </a:r>
          </a:p>
        </p:txBody>
      </p:sp>
      <p:sp>
        <p:nvSpPr>
          <p:cNvPr id="9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7818D630-8FC9-48D4-A057-06002009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518710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633BA15F-FBDF-4793-82EB-6CA790E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Practice: choose the next action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6677D35B-90A8-470F-8767-129F773D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5-item-1">
            <a:extLst xmlns:a="http://schemas.openxmlformats.org/drawingml/2006/main">
              <a:ext uri="{FF2B5EF4-FFF2-40B4-BE49-F238E27FC236}">
                <a16:creationId xmlns:a16="http://schemas.microsoft.com/office/drawing/2014/main" id="{0600FE27-72B2-433A-9D06-12CD8D78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The dashboard shows Watch after three consecutive high-temperature samples.</a:t>
            </a:r>
          </a:p>
        </p:txBody>
      </p:sp>
      <p:sp>
        <p:nvSpPr>
          <p:cNvPr id="4" name="slide-5-item-2">
            <a:extLst xmlns:a="http://schemas.openxmlformats.org/drawingml/2006/main">
              <a:ext uri="{FF2B5EF4-FFF2-40B4-BE49-F238E27FC236}">
                <a16:creationId xmlns:a16="http://schemas.microsoft.com/office/drawing/2014/main" id="{06191358-AB7C-464A-86C7-89A06EB9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In pairs, identify the first inspection step and explain what you would record.</a:t>
            </a:r>
          </a:p>
        </p:txBody>
      </p:sp>
      <p:sp>
        <p:nvSpPr>
          <p:cNvPr id="5" name="slide-5-item-3">
            <a:extLst xmlns:a="http://schemas.openxmlformats.org/drawingml/2006/main">
              <a:ext uri="{FF2B5EF4-FFF2-40B4-BE49-F238E27FC236}">
                <a16:creationId xmlns:a16="http://schemas.microsoft.com/office/drawing/2014/main" id="{E7CDF6D7-0080-4A7A-AF58-2AA5F66E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6302B"/>
                </a:solidFill>
              </a:defRPr>
            </a:pPr>
            <a:r>
              <a:rPr sz="1650">
                <a:solidFill>
                  <a:srgbClr val="16302B"/>
                </a:solidFill>
              </a:rPr>
              <a:t>• Be ready to share one concise acknowledgement note.</a:t>
            </a:r>
          </a:p>
        </p:txBody>
      </p:sp>
      <p:sp>
        <p:nvSpPr>
          <p:cNvPr id="6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22DD38DD-59C1-4882-9D0B-090413F2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67736F"/>
                </a:solidFill>
              </a:defRPr>
            </a:pPr>
            <a:r>
              <a:rPr sz="1050">
                <a:solidFill>
                  <a:srgbClr val="67736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6937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2026-09-01T19:25:04.7360000Z</dcterms:created>
  <dcterms:modified xsi:type="dcterms:W3CDTF">2026-09-01T19:25:04.7360000Z</dcterms:modified>
</coreProperties>
</file>