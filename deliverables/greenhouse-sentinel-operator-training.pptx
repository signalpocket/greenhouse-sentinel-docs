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4565c04c434f8f" /><Relationship Type="http://schemas.openxmlformats.org/officeDocument/2006/relationships/extended-properties" Target="/docProps/app.xml" Id="R7b89260eb0ff4d98" /><Relationship Type="http://schemas.openxmlformats.org/officeDocument/2006/relationships/officeDocument" Target="/ppt/presentation.xml" Id="Rcdc7483fd4b144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039871e5234c96"/>
  </p:sldMasterIdLst>
  <p:notesMasterIdLst>
    <p:notesMasterId xmlns:r="http://schemas.openxmlformats.org/officeDocument/2006/relationships" r:id="R73e891f1787446f1"/>
  </p:notesMasterIdLst>
  <p:sldIdLst>
    <p:sldId xmlns:r="http://schemas.openxmlformats.org/officeDocument/2006/relationships" id="256" r:id="Rccd37be3cf3a4f19"/>
    <p:sldId xmlns:r="http://schemas.openxmlformats.org/officeDocument/2006/relationships" id="257" r:id="Rd58cbda1606f446e"/>
    <p:sldId xmlns:r="http://schemas.openxmlformats.org/officeDocument/2006/relationships" id="258" r:id="Ra241299281ce41eb"/>
    <p:sldId xmlns:r="http://schemas.openxmlformats.org/officeDocument/2006/relationships" id="259" r:id="Rf8bccc89a13a40d4"/>
    <p:sldId xmlns:r="http://schemas.openxmlformats.org/officeDocument/2006/relationships" id="260" r:id="R7acdfa437a5a46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4d7e170cd4421a" /><Relationship Type="http://schemas.openxmlformats.org/officeDocument/2006/relationships/slideMaster" Target="/ppt/slideMasters/slideMaster1.xml" Id="Rea039871e5234c96" /><Relationship Type="http://schemas.openxmlformats.org/officeDocument/2006/relationships/notesMaster" Target="/ppt/notesMasters/notesMaster1.xml" Id="R73e891f1787446f1" /><Relationship Type="http://schemas.openxmlformats.org/officeDocument/2006/relationships/presProps" Target="/ppt/presProps.xml" Id="Reaf30a05908b475b" /><Relationship Type="http://schemas.openxmlformats.org/officeDocument/2006/relationships/tableStyles" Target="/ppt/tableStyles.xml" Id="Ra93b41aba1b94343" /><Relationship Type="http://schemas.openxmlformats.org/officeDocument/2006/relationships/slide" Target="/ppt/slides/slide1.xml" Id="Rccd37be3cf3a4f19" /><Relationship Type="http://schemas.openxmlformats.org/officeDocument/2006/relationships/slide" Target="/ppt/slides/slide2.xml" Id="Rd58cbda1606f446e" /><Relationship Type="http://schemas.openxmlformats.org/officeDocument/2006/relationships/slide" Target="/ppt/slides/slide3.xml" Id="Ra241299281ce41eb" /><Relationship Type="http://schemas.openxmlformats.org/officeDocument/2006/relationships/slide" Target="/ppt/slides/slide4.xml" Id="Rf8bccc89a13a40d4" /><Relationship Type="http://schemas.openxmlformats.org/officeDocument/2006/relationships/slide" Target="/ppt/slides/slide5.xml" Id="R7acdfa437a5a46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3cccdfa4704e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40dd8e0c524a27" /><Relationship Type="http://schemas.openxmlformats.org/officeDocument/2006/relationships/notesMaster" Target="/ppt/notesMasters/notesMaster1.xml" Id="R6859758d7a7d45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edce58acf742b5" /><Relationship Type="http://schemas.openxmlformats.org/officeDocument/2006/relationships/notesMaster" Target="/ppt/notesMasters/notesMaster1.xml" Id="Rac711f91bf774b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e553752b6a4162" /><Relationship Type="http://schemas.openxmlformats.org/officeDocument/2006/relationships/notesMaster" Target="/ppt/notesMasters/notesMaster1.xml" Id="R2826c75a2c7b42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36fb6290194dd7" /><Relationship Type="http://schemas.openxmlformats.org/officeDocument/2006/relationships/notesMaster" Target="/ppt/notesMasters/notesMaster1.xml" Id="R25281c756e2946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8a38efb4134aea" /><Relationship Type="http://schemas.openxmlformats.org/officeDocument/2006/relationships/notesMaster" Target="/ppt/notesMasters/notesMaster1.xml" Id="R0bf1042fcffa47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training/jays-book.json — deck title, sequence, and training framing.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docs/product/quickstart.md#connect-and-verify — single-sourced from Katie's maintained product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docs/product/operations.md#daily-check — single-sourced from Katie's maintained product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docs/product/architecture.md#decision-states — single-sourced from Katie's maintained product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training/jays-book.json — Jay's training-only exercise; not copied from Katie's maintained product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283631e0e49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e7d71e76e940b4" /><Relationship Type="http://schemas.openxmlformats.org/officeDocument/2006/relationships/slideLayout" Target="/ppt/slideLayouts/slideLayout1.xml" Id="Ra24aef76942342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4aef76942342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8632c98d2478b" /><Relationship Type="http://schemas.openxmlformats.org/officeDocument/2006/relationships/notesSlide" Target="/ppt/notesSlides/notesSlide1.xml" Id="R4bea3228c89a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2ed4ce22d4af6" /><Relationship Type="http://schemas.openxmlformats.org/officeDocument/2006/relationships/notesSlide" Target="/ppt/notesSlides/notesSlide2.xml" Id="R5327fe189c6841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99d2b158144e6" /><Relationship Type="http://schemas.openxmlformats.org/officeDocument/2006/relationships/notesSlide" Target="/ppt/notesSlides/notesSlide3.xml" Id="R54e4cef10ce946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8b17071684753" /><Relationship Type="http://schemas.openxmlformats.org/officeDocument/2006/relationships/notesSlide" Target="/ppt/notesSlides/notesSlide4.xml" Id="R5f6a6f93940f4a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953c0fa2c4823" /><Relationship Type="http://schemas.openxmlformats.org/officeDocument/2006/relationships/notesSlide" Target="/ppt/notesSlides/notesSlide5.xml" Id="Rde791d3ca1b64c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0884680-37E6-49F9-821E-BEB9A4BE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E54"/>
                </a:solidFill>
              </a:defRPr>
            </a:pPr>
            <a:r>
              <a:rPr sz="1500" b="1">
                <a:solidFill>
                  <a:srgbClr val="075E54"/>
                </a:solidFill>
              </a:rPr>
              <a:t>GREENHOUSE SENTINEL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03C5A291-CA7B-4820-967B-36B5A38B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000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Greenhouse Sentinel Operator Training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AF76D9F3-D887-4D94-AACB-1354E528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4413E"/>
                </a:solidFill>
              </a:defRPr>
            </a:pPr>
            <a:r>
              <a:rPr sz="2100">
                <a:solidFill>
                  <a:srgbClr val="34413E"/>
                </a:solidFill>
              </a:rPr>
              <a:t>A short practice deck for greenhouse volunteers</a:t>
            </a:r>
          </a:p>
        </p:txBody>
      </p:sp>
    </p:spTree>
    <p:extLst>
      <p:ext uri="{BB962C8B-B14F-4D97-AF65-F5344CB8AC3E}">
        <p14:creationId xmlns:p14="http://schemas.microsoft.com/office/powerpoint/2010/main" val="395833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2A2C32F-B7B8-45D8-8333-3B33F297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Connect and Verify</a:t>
            </a:r>
          </a:p>
        </p:txBody>
      </p:sp>
      <p:sp>
        <p:nvSpPr>
          <p:cNvPr id="2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BDCE2C50-D0AB-4FEF-93CD-EDB90E70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item-1">
            <a:extLst xmlns:a="http://schemas.openxmlformats.org/drawingml/2006/main">
              <a:ext uri="{FF2B5EF4-FFF2-40B4-BE49-F238E27FC236}">
                <a16:creationId xmlns:a16="http://schemas.microsoft.com/office/drawing/2014/main" id="{0360452C-2DB0-49ED-8718-1AA3AD00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Place the hub above the irrigation line and away from direct spray.</a:t>
            </a:r>
          </a:p>
        </p:txBody>
      </p:sp>
      <p:sp>
        <p:nvSpPr>
          <p:cNvPr id="4" name="slide-2-item-2">
            <a:extLst xmlns:a="http://schemas.openxmlformats.org/drawingml/2006/main">
              <a:ext uri="{FF2B5EF4-FFF2-40B4-BE49-F238E27FC236}">
                <a16:creationId xmlns:a16="http://schemas.microsoft.com/office/drawing/2014/main" id="{8E4E9CD9-C49C-4D1B-BE46-BFC3EDA8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Connect both probes before applying power.</a:t>
            </a:r>
          </a:p>
        </p:txBody>
      </p:sp>
      <p:sp>
        <p:nvSpPr>
          <p:cNvPr id="5" name="slide-2-item-3">
            <a:extLst xmlns:a="http://schemas.openxmlformats.org/drawingml/2006/main">
              <a:ext uri="{FF2B5EF4-FFF2-40B4-BE49-F238E27FC236}">
                <a16:creationId xmlns:a16="http://schemas.microsoft.com/office/drawing/2014/main" id="{02C4E24C-68EF-4F6C-BCEF-4D79B5F0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Join the temporary network named sentinel-setup.</a:t>
            </a:r>
          </a:p>
        </p:txBody>
      </p:sp>
      <p:sp>
        <p:nvSpPr>
          <p:cNvPr id="6" name="slide-2-item-4">
            <a:extLst xmlns:a="http://schemas.openxmlformats.org/drawingml/2006/main">
              <a:ext uri="{FF2B5EF4-FFF2-40B4-BE49-F238E27FC236}">
                <a16:creationId xmlns:a16="http://schemas.microsoft.com/office/drawing/2014/main" id="{06357A40-68FB-43B1-A6E2-9619FEF2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Open http://sentinel.local and choose the greenhouse network.</a:t>
            </a:r>
          </a:p>
        </p:txBody>
      </p:sp>
      <p:sp>
        <p:nvSpPr>
          <p:cNvPr id="7" name="slide-2-item-5">
            <a:extLst xmlns:a="http://schemas.openxmlformats.org/drawingml/2006/main">
              <a:ext uri="{FF2B5EF4-FFF2-40B4-BE49-F238E27FC236}">
                <a16:creationId xmlns:a16="http://schemas.microsoft.com/office/drawing/2014/main" id="{9B08A308-2BBD-419A-AC5A-CAC65A20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Select Run sensor check.</a:t>
            </a:r>
          </a:p>
        </p:txBody>
      </p:sp>
      <p:sp>
        <p:nvSpPr>
          <p:cNvPr id="8" name="slide-2-item-6">
            <a:extLst xmlns:a="http://schemas.openxmlformats.org/drawingml/2006/main">
              <a:ext uri="{FF2B5EF4-FFF2-40B4-BE49-F238E27FC236}">
                <a16:creationId xmlns:a16="http://schemas.microsoft.com/office/drawing/2014/main" id="{84826B9B-0A9D-4675-869F-086C6046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A successful check reports all three readings and changes the hub indicator from amber to green.</a:t>
            </a:r>
          </a:p>
        </p:txBody>
      </p:sp>
      <p:sp>
        <p:nvSpPr>
          <p:cNvPr id="9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C8008178-E9B3-4585-B4B6-02AF7882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7736F"/>
                </a:solidFill>
              </a:defRPr>
            </a:pPr>
            <a:r>
              <a:rPr sz="1050">
                <a:solidFill>
                  <a:srgbClr val="67736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4520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BE35538-3772-4249-B596-81E1C985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Daily Check</a:t>
            </a:r>
          </a:p>
        </p:txBody>
      </p:sp>
      <p:sp>
        <p:nvSpPr>
          <p:cNvPr id="2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45614460-E4A2-46E7-A816-A6723AEE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item-1">
            <a:extLst xmlns:a="http://schemas.openxmlformats.org/drawingml/2006/main">
              <a:ext uri="{FF2B5EF4-FFF2-40B4-BE49-F238E27FC236}">
                <a16:creationId xmlns:a16="http://schemas.microsoft.com/office/drawing/2014/main" id="{30A259F6-4816-4DDD-AEA1-D942E917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Confirm the dashboard timestamp is less than two minutes old.</a:t>
            </a:r>
          </a:p>
        </p:txBody>
      </p:sp>
      <p:sp>
        <p:nvSpPr>
          <p:cNvPr id="4" name="slide-3-item-2">
            <a:extLst xmlns:a="http://schemas.openxmlformats.org/drawingml/2006/main">
              <a:ext uri="{FF2B5EF4-FFF2-40B4-BE49-F238E27FC236}">
                <a16:creationId xmlns:a16="http://schemas.microsoft.com/office/drawing/2014/main" id="{2F6FA6F0-F946-4103-9F58-9D7BB110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Review the current state and its explanation.</a:t>
            </a:r>
          </a:p>
        </p:txBody>
      </p:sp>
      <p:sp>
        <p:nvSpPr>
          <p:cNvPr id="5" name="slide-3-item-3">
            <a:extLst xmlns:a="http://schemas.openxmlformats.org/drawingml/2006/main">
              <a:ext uri="{FF2B5EF4-FFF2-40B4-BE49-F238E27FC236}">
                <a16:creationId xmlns:a16="http://schemas.microsoft.com/office/drawing/2014/main" id="{AB7B20B4-B12A-49A3-ADCB-65457266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Compare soil moisture across the three most recent samples.</a:t>
            </a:r>
          </a:p>
        </p:txBody>
      </p:sp>
      <p:sp>
        <p:nvSpPr>
          <p:cNvPr id="6" name="slide-3-item-4">
            <a:extLst xmlns:a="http://schemas.openxmlformats.org/drawingml/2006/main">
              <a:ext uri="{FF2B5EF4-FFF2-40B4-BE49-F238E27FC236}">
                <a16:creationId xmlns:a16="http://schemas.microsoft.com/office/drawing/2014/main" id="{FD07B7B6-4686-4460-8D4E-FB777EA7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Acknowledge any completed response.</a:t>
            </a:r>
          </a:p>
        </p:txBody>
      </p:sp>
      <p:sp>
        <p:nvSpPr>
          <p:cNvPr id="7" name="slide-3-item-5">
            <a:extLst xmlns:a="http://schemas.openxmlformats.org/drawingml/2006/main">
              <a:ext uri="{FF2B5EF4-FFF2-40B4-BE49-F238E27FC236}">
                <a16:creationId xmlns:a16="http://schemas.microsoft.com/office/drawing/2014/main" id="{436D55F3-F561-4F08-AA9B-19A94058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Record an observation only when local conditions differ from the sensor data.</a:t>
            </a:r>
          </a:p>
        </p:txBody>
      </p:sp>
      <p:sp>
        <p:nvSpPr>
          <p:cNvPr id="8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240B6794-D10E-4E11-AA43-30C63755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7736F"/>
                </a:solidFill>
              </a:defRPr>
            </a:pPr>
            <a:r>
              <a:rPr sz="1050">
                <a:solidFill>
                  <a:srgbClr val="67736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72898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45BB9C94-E7DE-4AD4-A90F-1866A8AF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Decision States</a:t>
            </a:r>
          </a:p>
        </p:txBody>
      </p:sp>
      <p:sp>
        <p:nvSpPr>
          <p:cNvPr id="2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7DE1364E-1892-42DB-A0B5-E19803E9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item-1">
            <a:extLst xmlns:a="http://schemas.openxmlformats.org/drawingml/2006/main">
              <a:ext uri="{FF2B5EF4-FFF2-40B4-BE49-F238E27FC236}">
                <a16:creationId xmlns:a16="http://schemas.microsoft.com/office/drawing/2014/main" id="{B4973233-A950-417D-8EB1-08CC473B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The engine assigns one of three states after three consecutive samples meet the same condition.</a:t>
            </a:r>
          </a:p>
        </p:txBody>
      </p:sp>
      <p:sp>
        <p:nvSpPr>
          <p:cNvPr id="4" name="slide-4-item-2">
            <a:extLst xmlns:a="http://schemas.openxmlformats.org/drawingml/2006/main">
              <a:ext uri="{FF2B5EF4-FFF2-40B4-BE49-F238E27FC236}">
                <a16:creationId xmlns:a16="http://schemas.microsoft.com/office/drawing/2014/main" id="{9534A9E9-2919-4E74-9751-A46B5204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State — Example condition — Operator expectation</a:t>
            </a:r>
          </a:p>
        </p:txBody>
      </p:sp>
      <p:sp>
        <p:nvSpPr>
          <p:cNvPr id="5" name="slide-4-item-3">
            <a:extLst xmlns:a="http://schemas.openxmlformats.org/drawingml/2006/main">
              <a:ext uri="{FF2B5EF4-FFF2-40B4-BE49-F238E27FC236}">
                <a16:creationId xmlns:a16="http://schemas.microsoft.com/office/drawing/2014/main" id="{D190EA01-C10A-4135-BF38-809083CD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Normal — All readings are inside target ranges — Continue scheduled checks</a:t>
            </a:r>
          </a:p>
        </p:txBody>
      </p:sp>
      <p:sp>
        <p:nvSpPr>
          <p:cNvPr id="6" name="slide-4-item-4">
            <a:extLst xmlns:a="http://schemas.openxmlformats.org/drawingml/2006/main">
              <a:ext uri="{FF2B5EF4-FFF2-40B4-BE49-F238E27FC236}">
                <a16:creationId xmlns:a16="http://schemas.microsoft.com/office/drawing/2014/main" id="{AD031A42-D9BF-42C0-8427-6D27321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Watch — One reading is near a threshold — Inspect within 30 minutes</a:t>
            </a:r>
          </a:p>
        </p:txBody>
      </p:sp>
      <p:sp>
        <p:nvSpPr>
          <p:cNvPr id="7" name="slide-4-item-5">
            <a:extLst xmlns:a="http://schemas.openxmlformats.org/drawingml/2006/main">
              <a:ext uri="{FF2B5EF4-FFF2-40B4-BE49-F238E27FC236}">
                <a16:creationId xmlns:a16="http://schemas.microsoft.com/office/drawing/2014/main" id="{6E9D1688-B0BF-44E0-8968-7339C9E4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Act — One reading exceeds a threshold — Follow the displayed response</a:t>
            </a:r>
          </a:p>
        </p:txBody>
      </p:sp>
      <p:sp>
        <p:nvSpPr>
          <p:cNvPr id="8" name="slide-4-item-6">
            <a:extLst xmlns:a="http://schemas.openxmlformats.org/drawingml/2006/main">
              <a:ext uri="{FF2B5EF4-FFF2-40B4-BE49-F238E27FC236}">
                <a16:creationId xmlns:a16="http://schemas.microsoft.com/office/drawing/2014/main" id="{D4A117CA-BC9B-44F7-B82F-DCAEF0F8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The three-sample rule reduces noise without hiding sustained change. Thresholds in this demo are illustrative, not horticultural advice.</a:t>
            </a:r>
          </a:p>
        </p:txBody>
      </p:sp>
      <p:sp>
        <p:nvSpPr>
          <p:cNvPr id="9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2E96FEBE-A25F-4BF3-BA41-16362395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7736F"/>
                </a:solidFill>
              </a:defRPr>
            </a:pPr>
            <a:r>
              <a:rPr sz="1050">
                <a:solidFill>
                  <a:srgbClr val="67736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8756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B74A3FF2-3D1A-4825-89AF-4F0296C3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Practice: choose the next action</a:t>
            </a:r>
          </a:p>
        </p:txBody>
      </p:sp>
      <p:sp>
        <p:nvSpPr>
          <p:cNvPr id="2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B902D861-C07C-437C-BCDD-5E4370D9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5-item-1">
            <a:extLst xmlns:a="http://schemas.openxmlformats.org/drawingml/2006/main">
              <a:ext uri="{FF2B5EF4-FFF2-40B4-BE49-F238E27FC236}">
                <a16:creationId xmlns:a16="http://schemas.microsoft.com/office/drawing/2014/main" id="{78839901-8431-4336-8E6B-67888B75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The dashboard shows Watch after three consecutive high-temperature samples.</a:t>
            </a:r>
          </a:p>
        </p:txBody>
      </p:sp>
      <p:sp>
        <p:nvSpPr>
          <p:cNvPr id="4" name="slide-5-item-2">
            <a:extLst xmlns:a="http://schemas.openxmlformats.org/drawingml/2006/main">
              <a:ext uri="{FF2B5EF4-FFF2-40B4-BE49-F238E27FC236}">
                <a16:creationId xmlns:a16="http://schemas.microsoft.com/office/drawing/2014/main" id="{D3F42FC7-15ED-4EFD-A893-D674E4DB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In pairs, identify the first inspection step and explain what you would record.</a:t>
            </a:r>
          </a:p>
        </p:txBody>
      </p:sp>
      <p:sp>
        <p:nvSpPr>
          <p:cNvPr id="5" name="slide-5-item-3">
            <a:extLst xmlns:a="http://schemas.openxmlformats.org/drawingml/2006/main">
              <a:ext uri="{FF2B5EF4-FFF2-40B4-BE49-F238E27FC236}">
                <a16:creationId xmlns:a16="http://schemas.microsoft.com/office/drawing/2014/main" id="{3F347672-2EC5-4698-B61C-ADB38F39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Be ready to share one concise acknowledgement note.</a:t>
            </a:r>
          </a:p>
        </p:txBody>
      </p:sp>
      <p:sp>
        <p:nvSpPr>
          <p:cNvPr id="6" name="slide-5-footer">
            <a:extLst xmlns:a="http://schemas.openxmlformats.org/drawingml/2006/main">
              <a:ext uri="{FF2B5EF4-FFF2-40B4-BE49-F238E27FC236}">
                <a16:creationId xmlns:a16="http://schemas.microsoft.com/office/drawing/2014/main" id="{F18C1794-893E-4A8F-B1CA-F62D7D14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7736F"/>
                </a:solidFill>
              </a:defRPr>
            </a:pPr>
            <a:r>
              <a:rPr sz="1050">
                <a:solidFill>
                  <a:srgbClr val="67736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62300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2026-09-01T19:56:23.0960000Z</dcterms:created>
  <dcterms:modified xsi:type="dcterms:W3CDTF">2026-09-01T19:56:23.0960000Z</dcterms:modified>
</coreProperties>
</file>